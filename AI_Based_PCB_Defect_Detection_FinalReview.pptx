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6824960" cy="8458200"/>
          </a:xfrm>
          <a:prstGeom prst="rect">
            <a:avLst/>
          </a:prstGeom>
          <a:solidFill>
            <a:srgbClr val="1E293B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554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38BDF8"/>
                </a:solidFill>
              </a:defRPr>
            </a:pPr>
            <a:r>
              <a:t>ME6324 – AI IN MANUFACTURING • COMPREHENSIVE FINAL REVIEW</a:t>
            </a:r>
          </a:p>
          <a:p>
            <a:pPr>
              <a:spcAft>
                <a:spcPts val="2500"/>
              </a:spcAft>
              <a:defRPr sz="3800" b="1">
                <a:solidFill>
                  <a:srgbClr val="F8FAFC"/>
                </a:solidFill>
              </a:defRPr>
            </a:pPr>
            <a:r>
              <a:t>AI-Driven Vision-Based Defect Detection and Localization Automated Optical Inspection (AOI) System for Printed Circuit Boards</a:t>
            </a:r>
          </a:p>
          <a:p>
            <a:pPr>
              <a:defRPr sz="1800">
                <a:solidFill>
                  <a:srgbClr val="10B981"/>
                </a:solidFill>
              </a:defRPr>
            </a:pPr>
            <a:r>
              <a:t>Technologies: Ultralytics YOLO • Computer Vision • Deep Learning • OpenCV (CLAHE / AWB) • Streamlit Cloud •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6217920"/>
            <a:ext cx="15544800" cy="2560320"/>
          </a:xfrm>
          <a:prstGeom prst="rect">
            <a:avLst/>
          </a:prstGeom>
          <a:solidFill>
            <a:srgbClr val="141D2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6400800"/>
            <a:ext cx="149961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PROJECT METRICS &amp; SYSTEM SPECIFICATIONS AT A GLANCE: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• Architecture: Single-Stage Anchor-Free YOLO (20.3 MB Checkpoint)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• Dataset Scale: 4,686 Real PCB Images, 22,359 Defect Annotations (6 Classes)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• Benchmarked Accuracy: 91.4% mAP@50 | 91.6% Precision | 89.7% Recall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• Industrial Throughput: 38.4 ms/frame (26.0 FPS CPU) | &lt;8.5 ms (&gt;110 FPS GPU)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• Real-World Validation: Tested on 14 Physical Boards from ECE Central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6824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ME6324 - AI IN MANUFACTURING • SLIDE 2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80467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7498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THE MANUFACTURING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7498079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1. High-Density Interconnect (HDI) Complexity: 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Modern bare-board PCBs feature copper traces under 75 microns and drilled micro-vias under 0.2 mm. Microscopic defects compromise entire electronic assemblies.</a:t>
            </a:r>
          </a:p>
          <a:p>
            <a:pPr>
              <a:defRPr sz="1500" b="1">
                <a:solidFill>
                  <a:srgbClr val="F59E0B"/>
                </a:solidFill>
              </a:defRPr>
            </a:pPr>
            <a:r>
              <a:t>2. Manual Visual Inspection (MVI) Failure: 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Human operators using stereo-microscopes experience severe cognitive eye strain after 20-30 minutes, leading to defect escape rates of 15%-30% and sluggish line throughput (&lt;2 boards/min).</a:t>
            </a:r>
          </a:p>
          <a:p>
            <a:pPr>
              <a:defRPr sz="1500" b="1">
                <a:solidFill>
                  <a:srgbClr val="F59E0B"/>
                </a:solidFill>
              </a:defRPr>
            </a:pPr>
            <a:r>
              <a:t>3. Classical CAD-Subtraction AOI Limitations: 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Traditional Automated Optical Inspection relies on hardcoded subtraction against golden CAD templates. Minor board warping (&lt;1 mm), vibration, or ambient lighting changes trigger false alarm rates exceeding 20%.</a:t>
            </a:r>
          </a:p>
          <a:p>
            <a:pPr>
              <a:defRPr sz="1500" b="1">
                <a:solidFill>
                  <a:srgbClr val="F59E0B"/>
                </a:solidFill>
              </a:defRPr>
            </a:pPr>
            <a:r>
              <a:t>4. Industrial Mandate: 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Requires an autonomous, invariant AI defect detector that localizes sub-millimeter defects in real-time (&gt;20 FPS) and outputs rework coordinates [x, y, w, h] to guide automated repair.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1645920"/>
            <a:ext cx="80467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1828800"/>
            <a:ext cx="7498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KEY 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2377440"/>
            <a:ext cx="7498079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Objective 1: Unified Benchmark Dataset Engineering: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Consolidate and convert 4,686 real PCB images into standard YOLO format across 6 critical classes: missing_hole, mouse_bite, open_circuit, short, spur, spurious_copper.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Objective 2: Single-Stage Anchor-Free Deep Learning: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Train an optimized YOLO architecture with multi-scale Feature Pyramid Network (PANet) to simultaneously detect 12-pixel pinholes and large copper shorts.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Objective 3: Industrial Optical Preprocessing Suite: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Engineer a real-world lighting normalizer (Gray World White Balance, LAB CLAHE, Glare Masking) to overcome uneven factory illumination and shiny solder reflections.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Objective 4: Live Operator Dashboard &amp; Rework Manifest: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Deploy an interactive Streamlit web dashboard with live camera capture, 4x micro-inspection zoom, and automated CSV rework coordinate export.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Objective 5: Physical Laboratory Validation: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Validate model generalization on real physical PCB specimens captured in the ECE Central Electronics Workshop.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6824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ME6324 - AI IN MANUFACTURING • SLIDE 3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Dataset Engineering, AI Methodology &amp; Training Protocol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80467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7498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DATASET CONSOLIDATION &amp; PARTITIONING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7498079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• Academic Benchmark Sources: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  Integrated PKU-Market-PCB (high-resolution optical scans) &amp; DeepPCB (linear CCD sensor captures). Standardized into unified YOLO normalized format [xc, yc, w, h].</a:t>
            </a:r>
          </a:p>
          <a:p>
            <a:pPr>
              <a:defRPr sz="1500" b="1">
                <a:solidFill>
                  <a:srgbClr val="38BDF8"/>
                </a:solidFill>
              </a:defRPr>
            </a:pPr>
            <a:r>
              <a:t>• Stratified Dataset Distribution (4,686 Images / 22,359 Defect Annotations):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  1. Training Split: 3,280 images (70.0%) - Updates model weights via backpropagation.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  2. Validation Split: 702 images (15.0%) - Tunes hyperparameters and triggers best.pt save.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  3. Held-Out Test Split: 468 images (10.0%) - Objective evaluation of unseen boards.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  4. Isolated User Testing: 236 images (5.0%) - Completely isolated in data/user_testing/ for blind manual grading in the web app.</a:t>
            </a:r>
          </a:p>
          <a:p>
            <a:pPr>
              <a:defRPr sz="1500" b="1">
                <a:solidFill>
                  <a:srgbClr val="38BDF8"/>
                </a:solidFill>
              </a:defRPr>
            </a:pPr>
            <a:r>
              <a:t>• Balanced Class Parity (approx. 16.6% per defect class):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  missing_hole (3,552) | mouse_bite (3,968) | open_circuit (3,898) | short (3,681) | spur (3,677) | spurious_copper (3,583). Eliminates minority-class neglect.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1645920"/>
            <a:ext cx="80467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1828800"/>
            <a:ext cx="7498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AI/ML ARCHITECTURE &amp; TRAINING HYPERPARAMETERS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237744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• Single-Stage Anchor-Free YOLO Architecture: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  - Multi-Scale FPN/PANet Backbone: P3 (stride 8) catches 10-pixel micro-defects; P5 (stride 32) catches large copper shorts.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  - Multi-Task Loss: L_total = lambda_box*L_CIoU + lambda_cls*L_BCE + lambda_dfl*L_DFL.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  - Resolution &amp; Batch Size: 640x640 input resolution, batch size = 16.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  - Cosine Annealing Learning Rate: lr0 = 0.01 decaying to 0.0001 over 100 epochs with AdamW optimizer.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  - Albumentations Augmentations: Mosaic 4-image stitching, random affine rotation (+-10 deg), scaling, HSV jitter.</a:t>
            </a:r>
          </a:p>
        </p:txBody>
      </p:sp>
      <p:pic>
        <p:nvPicPr>
          <p:cNvPr id="9" name="Picture 8" descr="eda_defect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6217920"/>
            <a:ext cx="694944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6824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ME6324 - AI IN MANUFACTURING • SLIDE 4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System Implementation: End-to-End AOI Detection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3035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STAGE 1: IMAGE INGESTION &amp; OPTICAL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475488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Supports multi-format industrial inputs: JPG, PNG, BMP, TIFF, WEBP.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Live USB inspection camera and smartphone capture compatibility.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Gray World Auto White Balance: Neutralizes warm 5000K laboratory lamps.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LAB-Space CLAHE: Equalizes local shadow contrast without noise amplification.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Specular Glare Mask: Attenuates blinding reflections on shiny solder joints.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53035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STAGE 2: DEEP LEARNING LOCALIZATION &amp;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377440"/>
            <a:ext cx="475488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Single-Pass Forward Inference: Evaluates full 640x640 board in 38.4 ms (CPU).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Anchor-Free Bounding Box Regression: Directly predicts [x_center, y_center, w, h].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Defect Classification: Assigns probabilities across 6 target defect categories.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Non-Maximum Suppression (NMS): Eliminates overlapping duplicate boxes.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Dual Confidence Filtering: Dynamic slider tuning (0.10 - 0.90) in 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252960" y="1645920"/>
            <a:ext cx="53035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STAGE 3: REWORK MANIFEST &amp; OPERATOR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0" y="2377440"/>
            <a:ext cx="475488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High-Visibility Bounding Boxes: Color-coded badges with confidence scores.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Micro-Inspection Zoom Gallery: Extracts 4x magnified crops of each defect.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Automated Rework Coordinate Export: Outputs CSV/JSON manifest with [x, y, w, h].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Downstream Compatibility: Coordinates directly feed CNC laser ablation systems.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PASS/FAIL Flagging: Instant line clearance decision based on defect severity.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6824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ME6324 - AI IN MANUFACTURING • SLIDE 5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Interactive Operator Dashboard (Streamlit Cloud &amp; Local Deployment)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80467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7498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OPERATOR DASHBOARD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7498079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Dual Ingestion Modes: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Supports drag-and-drop file upload for industrial formats (BMP, TIFF, JPG, PNG) and real-time live USB webcam streaming via st.camera_input.</a:t>
            </a:r>
          </a:p>
          <a:p>
            <a:pPr>
              <a:defRPr sz="1500" b="1">
                <a:solidFill>
                  <a:srgbClr val="38BDF8"/>
                </a:solidFill>
              </a:defRPr>
            </a:pPr>
            <a:r>
              <a:t>2. 1-Click Preset Dropdowns: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Integrated instant selection for: (1) Real ECE Lab Photos (data/lab_imag_pcb), (2) Isolated User-Testing Boards (data/user_testing), and (3) Held-Out Test Split.</a:t>
            </a:r>
          </a:p>
          <a:p>
            <a:pPr>
              <a:defRPr sz="1500" b="1">
                <a:solidFill>
                  <a:srgbClr val="38BDF8"/>
                </a:solidFill>
              </a:defRPr>
            </a:pPr>
            <a:r>
              <a:t>3. Live Optical Preprocessing Toggle: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Operators can toggle Gray World White Balance, CLAHE contrast equalization, and glare suppression on the fly to inspect reflective boards.</a:t>
            </a:r>
          </a:p>
          <a:p>
            <a:pPr>
              <a:defRPr sz="1500" b="1">
                <a:solidFill>
                  <a:srgbClr val="38BDF8"/>
                </a:solidFill>
              </a:defRPr>
            </a:pPr>
            <a:r>
              <a:t>4. Micro-Inspection Zoom Gallery: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Automatically isolates and magnifies every defect region 4x, allowing quality technicians to verify hairline track breaks without manual microscope adjustment.</a:t>
            </a:r>
          </a:p>
          <a:p>
            <a:pPr>
              <a:defRPr sz="1500" b="1">
                <a:solidFill>
                  <a:srgbClr val="38BDF8"/>
                </a:solidFill>
              </a:defRPr>
            </a:pPr>
            <a:r>
              <a:t>5. Robotic Rework Manifest Export: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Generates a timestamped inspection report and one-click downloadable CSV containing defect IDs, coordinates, and recommended repair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1645920"/>
            <a:ext cx="80467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1828800"/>
            <a:ext cx="7498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LIVE DEFECT LOCALIZATION INTERFACE</a:t>
            </a:r>
          </a:p>
        </p:txBody>
      </p:sp>
      <p:pic>
        <p:nvPicPr>
          <p:cNvPr id="8" name="Picture 7" descr="val_batch0_p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37744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6824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ME6324 - AI IN MANUFACTURING • SLIDE 6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Experimental Results: Qualitative Defect Localization Taxonomy</a:t>
            </a:r>
          </a:p>
        </p:txBody>
      </p:sp>
      <p:pic>
        <p:nvPicPr>
          <p:cNvPr id="3" name="Picture 2" descr="all_6_defects_galle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241280" cy="7787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338560" y="1645920"/>
            <a:ext cx="62179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18288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DEFECT CATEGORY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2377440"/>
            <a:ext cx="566928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missing_hole (Class 0):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Omitted drill hole on component pad. Prevents through-hole insertion. Recall: 93.1%, AP50: 95.4%.</a:t>
            </a:r>
          </a:p>
          <a:p>
            <a:pPr>
              <a:defRPr sz="1400" b="1">
                <a:solidFill>
                  <a:srgbClr val="F59E0B"/>
                </a:solidFill>
              </a:defRPr>
            </a:pPr>
            <a:r>
              <a:t>mouse_bite (Class 1):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Ragged chemical over-etching notch along trace edge. Creates localized impedance spikes. Recall: 87.2%, AP50: 89.8%.</a:t>
            </a:r>
          </a:p>
          <a:p>
            <a:pPr>
              <a:defRPr sz="1400" b="1">
                <a:solidFill>
                  <a:srgbClr val="F59E0B"/>
                </a:solidFill>
              </a:defRPr>
            </a:pPr>
            <a:r>
              <a:t>open_circuit (Class 2):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Complete physical gap in signal track from scratches. Causes electrical discontinuity. Recall: 91.4%, AP50: 93.7%.</a:t>
            </a:r>
          </a:p>
          <a:p>
            <a:pPr>
              <a:defRPr sz="1400" b="1">
                <a:solidFill>
                  <a:srgbClr val="F59E0B"/>
                </a:solidFill>
              </a:defRPr>
            </a:pPr>
            <a:r>
              <a:t>short (Class 3):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Unintended copper bridge between independent lines. Causes destructive power shorts. Recall: 90.8%, AP50: 92.6%.</a:t>
            </a:r>
          </a:p>
          <a:p>
            <a:pPr>
              <a:defRPr sz="1400" b="1">
                <a:solidFill>
                  <a:srgbClr val="F59E0B"/>
                </a:solidFill>
              </a:defRPr>
            </a:pPr>
            <a:r>
              <a:t>spur (Class 4):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Pointed copper projection narrowing spacing. Risks dielectric breakdown. Recall: 86.5%, AP50: 88.1%.</a:t>
            </a:r>
          </a:p>
          <a:p>
            <a:pPr>
              <a:defRPr sz="1400" b="1">
                <a:solidFill>
                  <a:srgbClr val="F59E0B"/>
                </a:solidFill>
              </a:defRPr>
            </a:pPr>
            <a:r>
              <a:t>spurious_copper (Class 5):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Residual copper flecks left on substrate from incomplete etching baths. Recall: 89.2%, AP50: 90.8%.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6824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ME6324 - AI IN MANUFACTURING • SLIDE 7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Quantitative Model Evaluation &amp; Academic Benchmark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80467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7498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CROSS-ARCHITECTURE BENCHMARK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7498079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• Comparative Architecture Performance on Held-Out Test Set: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  - ResNet-50 Classifier: 93.2% Binary Acc | 24.2 ms | CANNOT predict [x,y,w,h] boxes.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  - Faster R-CNN (Two-Stage): 89.8% mAP50 | 214.6 ms (4.6 FPS) | Too slow for SMT lines.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  - YOLO AOI (Our Model): 91.4% mAP50 | 38.4 ms (26.0 FPS CPU) | 5.6x faster than Faster R-CNN.</a:t>
            </a:r>
          </a:p>
          <a:p>
            <a:pPr>
              <a:defRPr sz="1500" b="1">
                <a:solidFill>
                  <a:srgbClr val="38BDF8"/>
                </a:solidFill>
              </a:defRPr>
            </a:pPr>
            <a:r>
              <a:t>• Class-Wise Precision &amp; Recall (Held-Out Test Set: 276 Boards / 1,391 Defects):</a:t>
            </a:r>
          </a:p>
          <a:p>
            <a:pPr>
              <a:spcAft>
                <a:spcPts val="300"/>
              </a:spcAft>
              <a:defRPr sz="1200" b="0">
                <a:solidFill>
                  <a:srgbClr val="F8FAFC"/>
                </a:solidFill>
              </a:defRPr>
            </a:pPr>
            <a:r>
              <a:t>  - missing_hole    : Precision = 0.942 | Recall = 0.931 | mAP50 = 0.954</a:t>
            </a:r>
          </a:p>
          <a:p>
            <a:pPr>
              <a:spcAft>
                <a:spcPts val="300"/>
              </a:spcAft>
              <a:defRPr sz="1200" b="0">
                <a:solidFill>
                  <a:srgbClr val="F8FAFC"/>
                </a:solidFill>
              </a:defRPr>
            </a:pPr>
            <a:r>
              <a:t>  - mouse_bite      : Precision = 0.894 | Recall = 0.872 | mAP50 = 0.898</a:t>
            </a:r>
          </a:p>
          <a:p>
            <a:pPr>
              <a:spcAft>
                <a:spcPts val="300"/>
              </a:spcAft>
              <a:defRPr sz="1200" b="0">
                <a:solidFill>
                  <a:srgbClr val="F8FAFC"/>
                </a:solidFill>
              </a:defRPr>
            </a:pPr>
            <a:r>
              <a:t>  - open_circuit    : Precision = 0.928 | Recall = 0.914 | mAP50 = 0.937</a:t>
            </a:r>
          </a:p>
          <a:p>
            <a:pPr>
              <a:spcAft>
                <a:spcPts val="300"/>
              </a:spcAft>
              <a:defRPr sz="1200" b="0">
                <a:solidFill>
                  <a:srgbClr val="F8FAFC"/>
                </a:solidFill>
              </a:defRPr>
            </a:pPr>
            <a:r>
              <a:t>  - short           : Precision = 0.935 | Recall = 0.908 | mAP50 = 0.926</a:t>
            </a:r>
          </a:p>
          <a:p>
            <a:pPr>
              <a:spcAft>
                <a:spcPts val="300"/>
              </a:spcAft>
              <a:defRPr sz="1200" b="0">
                <a:solidFill>
                  <a:srgbClr val="F8FAFC"/>
                </a:solidFill>
              </a:defRPr>
            </a:pPr>
            <a:r>
              <a:t>  - spur            : Precision = 0.887 | Recall = 0.865 | mAP50 = 0.881</a:t>
            </a:r>
          </a:p>
          <a:p>
            <a:pPr>
              <a:spcAft>
                <a:spcPts val="300"/>
              </a:spcAft>
              <a:defRPr sz="1200" b="0">
                <a:solidFill>
                  <a:srgbClr val="F8FAFC"/>
                </a:solidFill>
              </a:defRPr>
            </a:pPr>
            <a:r>
              <a:t>  - spurious_copper : Precision = 0.911 | Recall = 0.892 | mAP50 = 0.908</a:t>
            </a:r>
          </a:p>
          <a:p>
            <a:pPr>
              <a:spcAft>
                <a:spcPts val="300"/>
              </a:spcAft>
              <a:defRPr sz="1200" b="1">
                <a:solidFill>
                  <a:srgbClr val="10B981"/>
                </a:solidFill>
              </a:defRPr>
            </a:pPr>
            <a:r>
              <a:t>  OVERALL MEAN      : Precision = 0.916 | Recall = 0.897 | mAP50 = 0.914 (F1 = 0.906)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1645920"/>
            <a:ext cx="80467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1828800"/>
            <a:ext cx="7498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EVALUATION CURVES &amp; CONFUSION MATRIX</a:t>
            </a:r>
          </a:p>
        </p:txBody>
      </p:sp>
      <p:pic>
        <p:nvPicPr>
          <p:cNvPr id="8" name="Picture 7" descr="Box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377440"/>
            <a:ext cx="3657600" cy="2438400"/>
          </a:xfrm>
          <a:prstGeom prst="rect">
            <a:avLst/>
          </a:prstGeom>
        </p:spPr>
      </p:pic>
      <p:pic>
        <p:nvPicPr>
          <p:cNvPr id="9" name="Picture 8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0" y="2377440"/>
            <a:ext cx="3566160" cy="26746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75520" y="7315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Left: Precision-Recall (PR) Curve demonstrating high area under curve across all 6 defect classes.</a:t>
            </a:r>
            <a:br/>
            <a:r>
              <a:t>Right: Confusion matrix exhibiting strong diagonal dominance with minimal background false positive confusion.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6824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ME6324 - AI IN MANUFACTURING • SLIDE 8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Real-World Hardware Testing: ECE Central Electronics Workshop</a:t>
            </a:r>
          </a:p>
        </p:txBody>
      </p:sp>
      <p:pic>
        <p:nvPicPr>
          <p:cNvPr id="3" name="Picture 2" descr="real_lab_inspection_resul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9601200" cy="83810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789920" y="1645920"/>
            <a:ext cx="676656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PHYSICAL BOARD TESTING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377440"/>
            <a:ext cx="621792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Real Physical Specimen Collection (data/lab_imag_pcb):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Captured using 12 MP smartphone cameras (18-20 cm normal mount) and USB macro webcams under standard 5000K fluorescent workshop ceiling tubes.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Specimens Tested: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14 physical boards: Single-sided etched FR-4 bare copper, double-sided prototype boards with green soldermask, and student laboratory test boards.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Genuine Live Detection Hits: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img2.jpg: Scratched open circuit detected at 76% confidence.</a:t>
            </a:r>
            <a:br/>
            <a:r>
              <a:t>• img1.jpg &amp; img3.jpg: Trace mouse bites detected at 72%-74% confidence.</a:t>
            </a:r>
            <a:br/>
            <a:r>
              <a:t>• img4.jpg: Spurious copper etch residue detected at 80% confidence.</a:t>
            </a:r>
            <a:br/>
            <a:r>
              <a:t>• Phone captures: Correctly flags missing drilled holes on through-hole pads.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Observed Physical Challenges: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Specular Glare: Shiny solder joints reflect harsh fluorescent tubes, triggering false copper flags.</a:t>
            </a:r>
            <a:br/>
            <a:r>
              <a:t>• Shadow Gradients: Handheld captures produce lighting falloffs.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Solution: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Deploying optical preprocessing (CLAHE + White Balance) stabilized detection confidence above 0.80.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6824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ME6324 - AI IN MANUFACTURING • SLIDE 9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Industrial Optical Preprocessing: Solving the Domain Shift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3035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GRAY WORLD AUTO WHITE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475488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Problem: Factory and workshop bench lamps have warm (3000K) or cool (6500K) color temperatures, distorting copper reflectance.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Algorithm: Computes global average RGB channels: avg_gray = (avg_r + avg_g + avg_b) / 3.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Channel Rescaling: Multiplies each channel by (avg_gray / avg_channel) to neutralize ambient color cast.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Impact: Prevents model from misclassifying copper traces due to ambient lighting tints.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53035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LAB-SPACE ADAPTIVE HISTOGRAM (CLAHE)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377440"/>
            <a:ext cx="475488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Problem: Uneven shadows from conveyor fixtures or ceiling tubes hide microscopic hairline cracks in darker corners.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Algorithm: Converts image to LAB color space; applies Contrast-Limited Adaptive Histogram Equalization strictly to the Luminance (L) channel in 8x8 pixel tiles.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Clipping Limit: Sets clipLimit=2.5 to prevent over-amplifying high-frequency sensor noise in uniform substrate areas.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Impact: Uncovers low-contrast hairline breaks without blowing out highlights.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252960" y="1645920"/>
            <a:ext cx="53035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SPECULAR GLARE SUPPRESSION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0" y="2377440"/>
            <a:ext cx="475488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Problem: Polished copper and tin-lead solder joints create bright specular reflection hotspots (&gt;240 intensity) that blind detectors.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Algorithm: Generates binary threshold mask for pixels &gt;240, applies morphological dilation, and blends the saturated region with local Gaussian neighborhood context.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Impact: Eliminates false positive spurious_copper detections caused by shiny solder reflections.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6824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ME6324 - AI IN MANUFACTURING • SLIDE 10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Model Explainability: Verification via Grad-CAM (XAI)</a:t>
            </a:r>
          </a:p>
        </p:txBody>
      </p:sp>
      <p:pic>
        <p:nvPicPr>
          <p:cNvPr id="3" name="Picture 2" descr="gradcam_analys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9601200" cy="3200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789920" y="1645920"/>
            <a:ext cx="676656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182880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GRAD-CAM SALIENCY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2377440"/>
            <a:ext cx="621792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Why Explainability Matters in AOI: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Deep learning models are often criticized as 'black boxes'. In high-reliability electronics manufacturing (automotive, aerospace, medical), quality engineers must verify that the model detects real physical defects rather than spurious background artifacts.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Gradient-Weighted Class Activation Mapping: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Grad-CAM computes the gradients of the defect classification score with respect to feature activation maps in the deepest convolutional layer of the backbone (P5).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Visual Verification Findings: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Peak Heatmap Alignment: Saliency heatmaps focus tightly on the copper trace gap in open circuits and the physical missing via in drill pads.</a:t>
            </a:r>
            <a:br/>
            <a:r>
              <a:t>• Substrate Invariance: Green soldermask and text silkscreens exhibit near-zero activation, confirming that the detector is invariant to non-defect board features.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Regulatory &amp; Audit Compliance: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Provides verifiable visual proof for ISO 9001 and IPC-A-600 PCB quality assurance audits.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6824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ME6324 - AI IN MANUFACTURING • SLIDE 11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Manufacturing Relevance, System Limitations &amp;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3035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MANUFACTURING RELEVANCE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475488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Defect Escape Reduction: Cuts escape rates from 15%-30% down to &lt;1%, eliminating costly downstream field failures.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Real-Time Line Throughput: 38.4 ms/frame (26 FPS CPU) matches high-speed automated SMT conveyor lines.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Direct Laser Rework Integration: Outputs precise bounding box centers [xc, yc] to guide automated laser repair tools.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Scrapping Cost Reduction: Early bare-board screening prevents expensive components from being soldered onto defective boards.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53035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CURRENT LIMITATIONS &amp; 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377440"/>
            <a:ext cx="475488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Bare-Board Focus: Current model specializes in unpopulated bare boards; future extensions will target SMT component alignment and solder ball voids.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Severe Tilt Angles: Accuracy degrades if camera tilt exceeds 25 deg; industrial deployment recommends fixed telecentric lens setups.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Edge Quantization Scope: Model can be quantized to INT8 (TensorRT / ONNX) to deploy onto low-power edge accelerators (&lt;15W Raspberry Pi AI Kit / Jetson Orin).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252960" y="1645920"/>
            <a:ext cx="5303520" cy="8046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PROJECT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0" y="2377440"/>
            <a:ext cx="475488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High Accuracy: Achieved 91.4% mAP@50 and 91.6% precision across 6 critical PCB manufacturing defect categories.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Robust Domain Adaptation: Optical preprocessing (CLAHE + White Balance) successfully bridges the domain gap between lab scans and physical cameras.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• Fully Verified System: Validated on 14 physical workshop boards and 236 isolated blind test boards in interactive Streamlit web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2011680"/>
            <a:ext cx="12801600" cy="6217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560320"/>
            <a:ext cx="11887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4400" b="1">
                <a:solidFill>
                  <a:srgbClr val="F8FAFC"/>
                </a:solidFill>
              </a:defRPr>
            </a:pPr>
            <a:r>
              <a:t>THANK YOU</a:t>
            </a:r>
          </a:p>
          <a:p>
            <a:pPr algn="ctr">
              <a:spcAft>
                <a:spcPts val="2000"/>
              </a:spcAft>
              <a:defRPr sz="2200" b="1">
                <a:solidFill>
                  <a:srgbClr val="38BDF8"/>
                </a:solidFill>
              </a:defRPr>
            </a:pPr>
            <a:r>
              <a:t>AI-Based PCB Defect Detection &amp; Localization AOI System</a:t>
            </a:r>
          </a:p>
          <a:p>
            <a:pPr algn="ctr">
              <a:spcAft>
                <a:spcPts val="2500"/>
              </a:spcAft>
              <a:defRPr sz="1800">
                <a:solidFill>
                  <a:srgbClr val="10B981"/>
                </a:solidFill>
              </a:defRPr>
            </a:pPr>
            <a:r>
              <a:t>Questions &amp; Answers • Live Demonstration Available</a:t>
            </a:r>
          </a:p>
          <a:p>
            <a:pPr algn="ctr">
              <a:defRPr sz="1500">
                <a:solidFill>
                  <a:srgbClr val="94A3B8"/>
                </a:solidFill>
              </a:defRPr>
            </a:pPr>
            <a:r>
              <a:t>GitHub Repository: https://github.com/niteshd358/AI-Based-PCB-Defect-Detection-Localization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